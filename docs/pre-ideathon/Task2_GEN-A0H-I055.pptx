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684E2F-9239-4366-94B3-8CD104678215}" v="6" dt="2026-10-08T19:29:32.6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3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1110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548640" y="3108960"/>
            <a:ext cx="5669280" cy="365760"/>
          </a:xfrm>
          <a:prstGeom prst="rect">
            <a:avLst/>
          </a:prstGeom>
          <a:noFill/>
          <a:ln/>
        </p:spPr>
        <p:txBody>
          <a:bodyPr wrap="square" lIns="0" tIns="0" rIns="0" bIns="0" rtlCol="0" anchor="ctr"/>
          <a:lstStyle/>
          <a:p>
            <a:pPr marL="0" indent="0">
              <a:buNone/>
            </a:pPr>
            <a:r>
              <a:rPr lang="en-US" sz="1600" i="1" dirty="0">
                <a:solidFill>
                  <a:schemeClr val="accent6"/>
                </a:solidFill>
              </a:rPr>
              <a:t>Introduce your team and the domain you have chosen</a:t>
            </a:r>
            <a:endParaRPr lang="en-US" sz="1600" dirty="0"/>
          </a:p>
        </p:txBody>
      </p:sp>
      <p:sp>
        <p:nvSpPr>
          <p:cNvPr id="15" name="Cover Fields"/>
          <p:cNvSpPr txBox="1"/>
          <p:nvPr/>
        </p:nvSpPr>
        <p:spPr>
          <a:xfrm>
            <a:off x="548640" y="3703319"/>
            <a:ext cx="6035040" cy="2944615"/>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 CLOVER</a:t>
            </a:r>
            <a:endParaRPr lang="en-US" sz="1800" dirty="0"/>
          </a:p>
          <a:p>
            <a:pPr marL="279400" indent="-279400">
              <a:spcAft>
                <a:spcPts val="1400"/>
              </a:spcAft>
              <a:buClr>
                <a:schemeClr val="accent3"/>
              </a:buClr>
              <a:buSzPct val="100000"/>
              <a:buChar char="•"/>
            </a:pPr>
            <a:r>
              <a:rPr lang="en-US" sz="1800" dirty="0">
                <a:solidFill>
                  <a:schemeClr val="bg1"/>
                </a:solidFill>
              </a:rPr>
              <a:t>Team Members – 1. LATHIKA.B          CB.SC.U4CSE26135</a:t>
            </a:r>
            <a:br>
              <a:rPr lang="en-US" sz="1800" dirty="0">
                <a:solidFill>
                  <a:schemeClr val="bg1"/>
                </a:solidFill>
              </a:rPr>
            </a:br>
            <a:r>
              <a:rPr lang="en-US" sz="1800" dirty="0">
                <a:solidFill>
                  <a:schemeClr val="bg1"/>
                </a:solidFill>
              </a:rPr>
              <a:t>                                2. LAKSHYA .A.S    CB.SC.U4CSE26426</a:t>
            </a:r>
            <a:br>
              <a:rPr lang="en-US" sz="1800" dirty="0">
                <a:solidFill>
                  <a:schemeClr val="bg1"/>
                </a:solidFill>
              </a:rPr>
            </a:br>
            <a:r>
              <a:rPr lang="en-US" sz="1800" dirty="0">
                <a:solidFill>
                  <a:schemeClr val="bg1"/>
                </a:solidFill>
              </a:rPr>
              <a:t>                                3. LOHITHAA.M    CB.SC.U4CSE26328</a:t>
            </a:r>
            <a:br>
              <a:rPr lang="en-US" sz="1800" dirty="0">
                <a:solidFill>
                  <a:schemeClr val="bg1"/>
                </a:solidFill>
              </a:rPr>
            </a:br>
            <a:r>
              <a:rPr lang="en-US" sz="1800" dirty="0">
                <a:solidFill>
                  <a:schemeClr val="bg1"/>
                </a:solidFill>
              </a:rPr>
              <a:t>                                4. ASMITHA.M      CB.SC.U4CSE26306</a:t>
            </a:r>
            <a:endParaRPr lang="en-US" sz="1800" dirty="0"/>
          </a:p>
          <a:p>
            <a:pPr marL="279400" indent="-279400">
              <a:spcAft>
                <a:spcPts val="1400"/>
              </a:spcAft>
              <a:buClr>
                <a:schemeClr val="accent3"/>
              </a:buClr>
              <a:buSzPct val="100000"/>
              <a:buChar char="•"/>
            </a:pPr>
            <a:r>
              <a:rPr lang="en-US" sz="1800" dirty="0">
                <a:solidFill>
                  <a:schemeClr val="bg1"/>
                </a:solidFill>
              </a:rPr>
              <a:t>Selected Domain – DOMAIN 3</a:t>
            </a:r>
            <a:endParaRPr lang="en-US" sz="1800" dirty="0"/>
          </a:p>
          <a:p>
            <a:pPr marL="279400" indent="-279400">
              <a:spcAft>
                <a:spcPts val="1400"/>
              </a:spcAft>
              <a:buClr>
                <a:schemeClr val="accent3"/>
              </a:buClr>
              <a:buSzPct val="100000"/>
              <a:buChar char="•"/>
            </a:pPr>
            <a:r>
              <a:rPr lang="en-US" sz="1800" dirty="0">
                <a:solidFill>
                  <a:schemeClr val="bg1"/>
                </a:solidFill>
              </a:rPr>
              <a:t>Problem Statement –</a:t>
            </a:r>
            <a:r>
              <a:rPr lang="en-US" dirty="0">
                <a:solidFill>
                  <a:schemeClr val="bg1"/>
                </a:solidFill>
              </a:rPr>
              <a:t>  AL³ 360: </a:t>
            </a:r>
            <a:r>
              <a:rPr lang="en-US" sz="2000" dirty="0">
                <a:solidFill>
                  <a:schemeClr val="bg1"/>
                </a:solidFill>
              </a:rPr>
              <a:t>FAST-FORWARDING COSMETIC SHELF-LIFE </a:t>
            </a:r>
            <a:r>
              <a:rPr lang="en-US" dirty="0">
                <a:solidFill>
                  <a:schemeClr val="bg1"/>
                </a:solidFill>
              </a:rPr>
              <a:t>TESTING FROM MONTHS TO HOURS</a:t>
            </a:r>
          </a:p>
          <a:p>
            <a:pPr>
              <a:spcAft>
                <a:spcPts val="1400"/>
              </a:spcAft>
              <a:buClr>
                <a:schemeClr val="accent3"/>
              </a:buClr>
              <a:buSzPct val="100000"/>
            </a:pP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p:nvPr>
        </p:nvSpPr>
        <p:spPr>
          <a:xfrm>
            <a:off x="3246120" y="320040"/>
            <a:ext cx="7498080" cy="822960"/>
          </a:xfrm>
          <a:prstGeom prst="rect">
            <a:avLst/>
          </a:prstGeom>
          <a:noFill/>
          <a:ln/>
        </p:spPr>
        <p:txBody>
          <a:bodyPr wrap="square" lIns="0" tIns="0" rIns="0" bIns="0" rtlCol="0" anchor="ctr"/>
          <a:lstStyle/>
          <a:p>
            <a:pPr marL="0" indent="0" algn="ctr">
              <a:buNone/>
            </a:pPr>
            <a:r>
              <a:rPr lang="en-US" sz="2400" dirty="0"/>
              <a:t>DOMAIN PROBLEM IN OUR WORDS</a:t>
            </a:r>
          </a:p>
        </p:txBody>
      </p:sp>
      <p:sp>
        <p:nvSpPr>
          <p:cNvPr id="3" name="Team Badge"/>
          <p:cNvSpPr/>
          <p:nvPr/>
        </p:nvSpPr>
        <p:spPr>
          <a:xfrm>
            <a:off x="457200" y="434340"/>
            <a:ext cx="2606040" cy="822960"/>
          </a:xfrm>
          <a:prstGeom prst="roundRect">
            <a:avLst>
              <a:gd name="adj" fmla="val 13333"/>
            </a:avLst>
          </a:prstGeom>
          <a:solidFill>
            <a:schemeClr val="bg1"/>
          </a:solidFill>
          <a:ln w="9525">
            <a:solidFill>
              <a:schemeClr val="accent6"/>
            </a:solidFill>
            <a:prstDash val="solid"/>
          </a:ln>
        </p:spPr>
        <p:txBody>
          <a:bodyPr/>
          <a:lstStyle/>
          <a:p>
            <a:r>
              <a:rPr lang="en-IN" dirty="0"/>
              <a:t>               </a:t>
            </a:r>
          </a:p>
          <a:p>
            <a:r>
              <a:rPr lang="en-IN" dirty="0"/>
              <a:t>              CLOVER</a:t>
            </a:r>
          </a:p>
        </p:txBody>
      </p:sp>
      <p:sp>
        <p:nvSpPr>
          <p:cNvPr id="4" name="Team Icon Hex"/>
          <p:cNvSpPr/>
          <p:nvPr/>
        </p:nvSpPr>
        <p:spPr>
          <a:xfrm>
            <a:off x="603504" y="457200"/>
            <a:ext cx="630936" cy="68580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6629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Explain the problem in your domain simply, in your own words</a:t>
            </a:r>
            <a:endParaRPr lang="en-US" sz="1800" dirty="0"/>
          </a:p>
        </p:txBody>
      </p:sp>
      <p:sp>
        <p:nvSpPr>
          <p:cNvPr id="10" name="Prompts"/>
          <p:cNvSpPr txBox="1"/>
          <p:nvPr/>
        </p:nvSpPr>
        <p:spPr>
          <a:xfrm>
            <a:off x="868680" y="2148840"/>
            <a:ext cx="10424160" cy="1188720"/>
          </a:xfrm>
          <a:prstGeom prst="rect">
            <a:avLst/>
          </a:prstGeom>
          <a:noFill/>
          <a:ln/>
        </p:spPr>
        <p:txBody>
          <a:bodyPr wrap="square" lIns="0" tIns="0" rIns="0" bIns="0" rtlCol="0" anchor="t"/>
          <a:lstStyle/>
          <a:p>
            <a:pPr marL="285750" indent="-285750">
              <a:spcAft>
                <a:spcPts val="1000"/>
              </a:spcAft>
              <a:buClr>
                <a:schemeClr val="accent1"/>
              </a:buClr>
              <a:buSzPct val="116000"/>
              <a:buFont typeface="Arial" pitchFamily="34" charset="0"/>
              <a:buChar char="•"/>
            </a:pPr>
            <a:r>
              <a:rPr lang="en-US" sz="1800" dirty="0">
                <a:solidFill>
                  <a:schemeClr val="tx1"/>
                </a:solidFill>
              </a:rPr>
              <a:t>What exactly needs to be solved?</a:t>
            </a:r>
            <a:br>
              <a:rPr lang="en-US" dirty="0"/>
            </a:br>
            <a:r>
              <a:rPr lang="en-US" sz="1400" dirty="0"/>
              <a:t>Cosmetics are </a:t>
            </a:r>
            <a:r>
              <a:rPr lang="en-US" sz="1400" b="1" dirty="0"/>
              <a:t>‘EMULSIONS</a:t>
            </a:r>
            <a:r>
              <a:rPr lang="en-US" sz="1400" dirty="0"/>
              <a:t>’:</a:t>
            </a:r>
          </a:p>
          <a:p>
            <a:pPr>
              <a:spcAft>
                <a:spcPts val="1000"/>
              </a:spcAft>
              <a:buClr>
                <a:schemeClr val="accent1"/>
              </a:buClr>
              <a:buSzPct val="100000"/>
            </a:pPr>
            <a:r>
              <a:rPr lang="en-US" sz="1400" dirty="0"/>
              <a:t>The manufacturing industry needs to know whether those chemical bonds hold each other in the future   . The only way, right now to the cosmetic chemist is to put a bottle in a basic laboratory incubator oven  and wait for at least around 3 to 6 months ,walking over to look at it by eye every few days .</a:t>
            </a:r>
          </a:p>
          <a:p>
            <a:pPr>
              <a:spcAft>
                <a:spcPts val="1000"/>
              </a:spcAft>
              <a:buClr>
                <a:schemeClr val="accent1"/>
              </a:buClr>
              <a:buSzPct val="100000"/>
            </a:pPr>
            <a:r>
              <a:rPr lang="en-US" sz="1400" dirty="0"/>
              <a:t>In a rapidly evolving landscape , waiting 6 months to launch a new cream is a massive competitive bottleneck .So, we are going to implement our device  </a:t>
            </a:r>
            <a:r>
              <a:rPr lang="en-US" sz="1400" b="1" dirty="0"/>
              <a:t>‘AL CUBE – 360’ </a:t>
            </a:r>
            <a:r>
              <a:rPr lang="en-US" sz="1400" dirty="0"/>
              <a:t>to the industry to overcome the validation data in hours ,not months .</a:t>
            </a:r>
          </a:p>
          <a:p>
            <a:pPr marL="285750" indent="-285750">
              <a:spcAft>
                <a:spcPts val="1000"/>
              </a:spcAft>
              <a:buClr>
                <a:schemeClr val="accent1"/>
              </a:buClr>
              <a:buSzPct val="100000"/>
              <a:buFont typeface="Arial" pitchFamily="34" charset="0"/>
              <a:buChar char="•"/>
            </a:pPr>
            <a:r>
              <a:rPr lang="en-US" sz="1800" dirty="0">
                <a:solidFill>
                  <a:schemeClr val="tx1"/>
                </a:solidFill>
              </a:rPr>
              <a:t>Why is it important right now?</a:t>
            </a:r>
            <a:br>
              <a:rPr lang="en-US" dirty="0"/>
            </a:br>
            <a:r>
              <a:rPr lang="en-US" sz="1400" dirty="0"/>
              <a:t>Solving this problem right now is significant because the beauty and personal care industry is undergoing a massive, time-sensitive shift. The traditional way of testing cosmetics simply cannot keep up with modern market and regulatory demands . The main reasons are:</a:t>
            </a:r>
            <a:br>
              <a:rPr lang="en-US" sz="1400" dirty="0"/>
            </a:br>
            <a:r>
              <a:rPr lang="en-US" sz="1400" dirty="0"/>
              <a:t>1. Sudden shift to natural elements has made it difficult to deal with the ingredients , as natural ingredients are unstable and needs a lot of time to set</a:t>
            </a:r>
            <a:br>
              <a:rPr lang="en-US" sz="1400" dirty="0"/>
            </a:br>
            <a:r>
              <a:rPr lang="en-US" sz="1400" dirty="0"/>
              <a:t>2. Cosmetic products need to be launched within weeks not months to meet the demand of current needs</a:t>
            </a:r>
            <a:br>
              <a:rPr lang="en-US" sz="1400" dirty="0"/>
            </a:br>
            <a:r>
              <a:rPr lang="en-US" sz="1400" dirty="0"/>
              <a:t>3. To reduce chemical wastage to the possible extent</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CLOVER</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Primary users / target group:</a:t>
            </a:r>
          </a:p>
          <a:p>
            <a:pPr>
              <a:spcAft>
                <a:spcPts val="1000"/>
              </a:spcAft>
              <a:buClr>
                <a:schemeClr val="accent1"/>
              </a:buClr>
              <a:buSzPct val="100000"/>
            </a:pPr>
            <a:r>
              <a:rPr lang="en-US" sz="1400" dirty="0"/>
              <a:t>Cosmetic manufacturers and skincare brand</a:t>
            </a:r>
          </a:p>
          <a:p>
            <a:pPr>
              <a:spcAft>
                <a:spcPts val="1000"/>
              </a:spcAft>
              <a:buClr>
                <a:schemeClr val="accent1"/>
              </a:buClr>
              <a:buSzPct val="100000"/>
            </a:pPr>
            <a:r>
              <a:rPr lang="en-US" sz="1400" dirty="0"/>
              <a:t>,Research and Development (R&amp;D) teams</a:t>
            </a:r>
          </a:p>
          <a:p>
            <a:pPr>
              <a:spcAft>
                <a:spcPts val="1000"/>
              </a:spcAft>
              <a:buClr>
                <a:schemeClr val="accent1"/>
              </a:buClr>
              <a:buSzPct val="100000"/>
            </a:pPr>
            <a:r>
              <a:rPr lang="en-US" sz="1400" dirty="0"/>
              <a:t>Cosmetic formulation scientists</a:t>
            </a:r>
          </a:p>
          <a:p>
            <a:pPr>
              <a:spcAft>
                <a:spcPts val="1000"/>
              </a:spcAft>
              <a:buClr>
                <a:schemeClr val="accent1"/>
              </a:buClr>
              <a:buSzPct val="100000"/>
            </a:pPr>
            <a:r>
              <a:rPr lang="en-US" sz="1400" dirty="0"/>
              <a:t>Quality assurance and product testing laboratories</a:t>
            </a:r>
          </a:p>
          <a:p>
            <a:pPr marL="279400" indent="-279400">
              <a:spcAft>
                <a:spcPts val="1000"/>
              </a:spcAft>
              <a:buClr>
                <a:schemeClr val="accent1"/>
              </a:buClr>
              <a:buSzPct val="100000"/>
              <a:buChar char="•"/>
            </a:pPr>
            <a:r>
              <a:rPr lang="en-US" dirty="0"/>
              <a:t>2. Secondary Stakeholders:</a:t>
            </a:r>
          </a:p>
          <a:p>
            <a:pPr>
              <a:spcAft>
                <a:spcPts val="1000"/>
              </a:spcAft>
              <a:buClr>
                <a:schemeClr val="accent1"/>
              </a:buClr>
              <a:buSzPct val="100000"/>
            </a:pPr>
            <a:r>
              <a:rPr lang="en-US" sz="1400" dirty="0"/>
              <a:t>Regulatory authorities and certification agencies</a:t>
            </a:r>
          </a:p>
          <a:p>
            <a:pPr>
              <a:spcAft>
                <a:spcPts val="1000"/>
              </a:spcAft>
              <a:buClr>
                <a:schemeClr val="accent1"/>
              </a:buClr>
              <a:buSzPct val="100000"/>
            </a:pPr>
            <a:r>
              <a:rPr lang="en-US" sz="1400" dirty="0"/>
              <a:t>Cosmetic ingredient suppliers , Contract testing laboratories , Retailers and distributors</a:t>
            </a:r>
          </a:p>
          <a:p>
            <a:pPr marL="279400" indent="-279400">
              <a:spcAft>
                <a:spcPts val="1000"/>
              </a:spcAft>
              <a:buClr>
                <a:schemeClr val="accent1"/>
              </a:buClr>
              <a:buSzPct val="100000"/>
              <a:buChar char="•"/>
            </a:pPr>
            <a:r>
              <a:rPr lang="en-US" dirty="0"/>
              <a:t>3. Who Benefits If the Problem Is Solved?:</a:t>
            </a:r>
          </a:p>
          <a:p>
            <a:pPr>
              <a:spcAft>
                <a:spcPts val="1000"/>
              </a:spcAft>
              <a:buClr>
                <a:schemeClr val="accent1"/>
              </a:buClr>
              <a:buSzPct val="100000"/>
            </a:pPr>
            <a:r>
              <a:rPr lang="en-US" sz="1400" dirty="0"/>
              <a:t>Manufacturers: Faster product development and reduced testing costs , Researchers: Rapid, data-driven predictions of product stability. Startups: Quicker product launches with fewer testing resources . Consumers: Faster access to innovative, quality-tested cosmetic products. Environment: Potential reduction in testing-related material waste</a:t>
            </a:r>
            <a:r>
              <a:rPr lang="en-US" dirty="0"/>
              <a:t>.</a:t>
            </a:r>
          </a:p>
          <a:p>
            <a:pPr>
              <a:spcAft>
                <a:spcPts val="1000"/>
              </a:spcAft>
              <a:buClr>
                <a:schemeClr val="accent1"/>
              </a:buClr>
              <a:buSzPct val="100000"/>
            </a:pPr>
            <a:endParaRPr lang="en-US" sz="1800" dirty="0"/>
          </a:p>
          <a:p>
            <a:pPr>
              <a:spcAft>
                <a:spcPts val="1000"/>
              </a:spcAft>
              <a:buClr>
                <a:schemeClr val="accent1"/>
              </a:buClr>
              <a:buSzPct val="100000"/>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CLOVER</a:t>
            </a: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83920" y="1980591"/>
            <a:ext cx="10424160" cy="1051368"/>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Existing scenario and background</a:t>
            </a:r>
          </a:p>
          <a:p>
            <a:r>
              <a:rPr lang="en-IN" sz="1400" dirty="0"/>
              <a:t>Cosmetic companies usually test stability of the emulsions in their laboratory. This is done to check the stability  between ingredients and chemical bond over time. But this process takes up to 3 to 6 months ,which makes product development slow</a:t>
            </a:r>
          </a:p>
          <a:p>
            <a:r>
              <a:rPr lang="en-IN" dirty="0"/>
              <a:t> </a:t>
            </a:r>
          </a:p>
          <a:p>
            <a:pPr lvl="0"/>
            <a:r>
              <a:rPr lang="en-US" sz="1800" dirty="0">
                <a:solidFill>
                  <a:schemeClr val="tx1"/>
                </a:solidFill>
              </a:rPr>
              <a:t>Relevant data or facts (if available)</a:t>
            </a:r>
            <a:br>
              <a:rPr lang="en-US" sz="1800" dirty="0">
                <a:solidFill>
                  <a:schemeClr val="tx1"/>
                </a:solidFill>
              </a:rPr>
            </a:br>
            <a:r>
              <a:rPr lang="en-IN" sz="1400" dirty="0"/>
              <a:t>1. The process of checking the stability takes up to 3 to 6 months</a:t>
            </a:r>
          </a:p>
          <a:p>
            <a:pPr lvl="0"/>
            <a:r>
              <a:rPr lang="en-IN" sz="1400" dirty="0"/>
              <a:t>2. Natural ingredients can be less stable and difficult to predict</a:t>
            </a:r>
          </a:p>
          <a:p>
            <a:pPr lvl="0"/>
            <a:r>
              <a:rPr lang="en-IN" sz="1400" dirty="0"/>
              <a:t>3. Usually this laboratory testing leads time, cost and material wastage</a:t>
            </a:r>
          </a:p>
          <a:p>
            <a:pPr marL="279400" indent="-279400">
              <a:spcAft>
                <a:spcPts val="1000"/>
              </a:spcAft>
              <a:buClr>
                <a:schemeClr val="accent1"/>
              </a:buClr>
              <a:buSzPct val="100000"/>
              <a:buChar char="•"/>
            </a:pPr>
            <a:endParaRPr lang="en-US" sz="1400" dirty="0"/>
          </a:p>
          <a:p>
            <a:pPr marL="279400" indent="-279400">
              <a:spcAft>
                <a:spcPts val="1000"/>
              </a:spcAft>
              <a:buClr>
                <a:schemeClr val="accent1"/>
              </a:buClr>
              <a:buSzPct val="100000"/>
              <a:buFontTx/>
              <a:buChar char="•"/>
            </a:pPr>
            <a:r>
              <a:rPr lang="en-US" sz="1800" dirty="0">
                <a:solidFill>
                  <a:schemeClr val="tx1"/>
                </a:solidFill>
              </a:rPr>
              <a:t>Current workflow, step by step</a:t>
            </a:r>
            <a:br>
              <a:rPr lang="en-US" sz="1800" dirty="0">
                <a:solidFill>
                  <a:schemeClr val="tx1"/>
                </a:solidFill>
              </a:rPr>
            </a:br>
            <a:r>
              <a:rPr lang="en-IN" sz="1400" dirty="0"/>
              <a:t>Formulation -&gt; Laboratory Testing -&gt;   Waiting period -&gt;  </a:t>
            </a:r>
            <a:br>
              <a:rPr lang="en-IN" sz="1400" dirty="0"/>
            </a:br>
            <a:r>
              <a:rPr lang="en-IN" sz="1400" dirty="0"/>
              <a:t>Stability Analysis -&gt; Product Approval</a:t>
            </a:r>
          </a:p>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a:solidFill>
                  <a:schemeClr val="accent1"/>
                </a:solidFill>
              </a:rPr>
              <a:t>CLOVER</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85750" indent="-285750">
              <a:buFont typeface="Arial" pitchFamily="34" charset="0"/>
              <a:buChar char="•"/>
            </a:pPr>
            <a:r>
              <a:rPr lang="en-US" sz="1800" dirty="0">
                <a:solidFill>
                  <a:schemeClr val="tx1"/>
                </a:solidFill>
              </a:rPr>
              <a:t>Main difficulties and bottlenecks</a:t>
            </a:r>
            <a:br>
              <a:rPr lang="en-US" sz="1800" dirty="0">
                <a:solidFill>
                  <a:schemeClr val="tx1"/>
                </a:solidFill>
              </a:rPr>
            </a:br>
            <a:r>
              <a:rPr lang="en-IN" sz="1400" dirty="0"/>
              <a:t>1. Testing can require repeated human intervention</a:t>
            </a:r>
            <a:br>
              <a:rPr lang="en-IN" sz="1400" dirty="0"/>
            </a:br>
            <a:r>
              <a:rPr lang="en-IN" sz="1400" dirty="0"/>
              <a:t>2.  New cosmetic products cannot be launched quickly</a:t>
            </a:r>
            <a:br>
              <a:rPr lang="en-IN" sz="1400" dirty="0"/>
            </a:br>
            <a:r>
              <a:rPr lang="en-IN" sz="1400" dirty="0"/>
              <a:t>3. Natural ingredients sometimes behave differently and make </a:t>
            </a:r>
            <a:br>
              <a:rPr lang="en-IN" sz="1400" dirty="0"/>
            </a:br>
            <a:r>
              <a:rPr lang="en-IN" sz="1400" dirty="0"/>
              <a:t>     the prediction difficult</a:t>
            </a:r>
            <a:br>
              <a:rPr lang="en-IN" sz="1400" dirty="0"/>
            </a:br>
            <a:r>
              <a:rPr lang="en-IN" sz="1400" dirty="0"/>
              <a:t>4. Also, if the formulation fails, the process needs to be repeated</a:t>
            </a:r>
          </a:p>
          <a:p>
            <a:r>
              <a:rPr lang="en-IN" sz="1400" dirty="0"/>
              <a:t> </a:t>
            </a:r>
          </a:p>
          <a:p>
            <a:pPr marL="285750" lvl="0" indent="-285750">
              <a:buFont typeface="Arial" pitchFamily="34" charset="0"/>
              <a:buChar char="•"/>
            </a:pPr>
            <a:r>
              <a:rPr lang="en-US" sz="1800" dirty="0">
                <a:solidFill>
                  <a:schemeClr val="tx1"/>
                </a:solidFill>
              </a:rPr>
              <a:t>Root causes behind them</a:t>
            </a:r>
            <a:br>
              <a:rPr lang="en-US" sz="1800" dirty="0">
                <a:solidFill>
                  <a:schemeClr val="tx1"/>
                </a:solidFill>
              </a:rPr>
            </a:br>
            <a:r>
              <a:rPr lang="en-IN" sz="1400" dirty="0"/>
              <a:t>1. These cosmetic products have formulations which contains</a:t>
            </a:r>
            <a:br>
              <a:rPr lang="en-IN" sz="1400" dirty="0"/>
            </a:br>
            <a:r>
              <a:rPr lang="en-IN" sz="1400" dirty="0"/>
              <a:t>    the ingredients whose interactions can be complex</a:t>
            </a:r>
          </a:p>
          <a:p>
            <a:pPr lvl="0"/>
            <a:r>
              <a:rPr lang="en-IN" sz="1400" dirty="0"/>
              <a:t>       2. This laboratory method requires time and physical sample to validate stability</a:t>
            </a:r>
          </a:p>
          <a:p>
            <a:pPr lvl="0"/>
            <a:r>
              <a:rPr lang="en-IN" sz="1400" dirty="0"/>
              <a:t>       3. We have limited ability to predict the long -term behaviour quickly</a:t>
            </a:r>
          </a:p>
          <a:p>
            <a:pPr lvl="0"/>
            <a:endParaRPr lang="en-IN" sz="1400" dirty="0"/>
          </a:p>
          <a:p>
            <a:pPr marL="285750" lvl="0" indent="-285750">
              <a:buFont typeface="Arial" pitchFamily="34" charset="0"/>
              <a:buChar char="•"/>
            </a:pPr>
            <a:r>
              <a:rPr lang="en-US" sz="1800" dirty="0">
                <a:solidFill>
                  <a:schemeClr val="tx1"/>
                </a:solidFill>
              </a:rPr>
              <a:t>Consequences of leaving them unsolved</a:t>
            </a:r>
          </a:p>
          <a:p>
            <a:pPr lvl="0"/>
            <a:r>
              <a:rPr lang="en-IN" sz="1400" dirty="0"/>
              <a:t>       1. Product launches will be delayed</a:t>
            </a:r>
          </a:p>
          <a:p>
            <a:pPr lvl="0"/>
            <a:r>
              <a:rPr lang="en-IN" sz="1400" dirty="0"/>
              <a:t>       2. The company will not be able to meet up to the market demand</a:t>
            </a:r>
          </a:p>
          <a:p>
            <a:pPr lvl="0"/>
            <a:r>
              <a:rPr lang="en-IN" sz="1400" dirty="0"/>
              <a:t>       3. Efficiency in cosmetic product development will be reduced</a:t>
            </a:r>
          </a:p>
          <a:p>
            <a:pPr lvl="0"/>
            <a:r>
              <a:rPr lang="en-IN" sz="1400" dirty="0"/>
              <a:t>       4. More material and chemical wastages will happen</a:t>
            </a:r>
            <a:r>
              <a:rPr lang="en-IN" dirty="0"/>
              <a:t>.</a:t>
            </a:r>
          </a:p>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CLOVER</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736092" y="2148840"/>
            <a:ext cx="10556748" cy="1645920"/>
          </a:xfrm>
          <a:prstGeom prst="rect">
            <a:avLst/>
          </a:prstGeom>
          <a:noFill/>
          <a:ln/>
        </p:spPr>
        <p:txBody>
          <a:bodyPr wrap="square" lIns="0" tIns="0" rIns="0" bIns="0" rtlCol="0" anchor="t"/>
          <a:lstStyle/>
          <a:p>
            <a:pPr marL="285750" indent="-285750">
              <a:spcAft>
                <a:spcPts val="1000"/>
              </a:spcAft>
              <a:buClr>
                <a:schemeClr val="accent1"/>
              </a:buClr>
              <a:buSzPct val="100000"/>
              <a:buFont typeface="Arial" pitchFamily="34" charset="0"/>
              <a:buChar char="•"/>
            </a:pPr>
            <a:r>
              <a:rPr lang="en-US" sz="1800" dirty="0">
                <a:solidFill>
                  <a:schemeClr val="tx1"/>
                </a:solidFill>
              </a:rPr>
              <a:t>Existing methods, systems or alternatives</a:t>
            </a:r>
          </a:p>
          <a:p>
            <a:pPr>
              <a:spcAft>
                <a:spcPts val="1000"/>
              </a:spcAft>
              <a:buClr>
                <a:schemeClr val="accent1"/>
              </a:buClr>
              <a:buSzPct val="100000"/>
            </a:pPr>
            <a:r>
              <a:rPr lang="en-US" sz="1800" dirty="0"/>
              <a:t>     </a:t>
            </a:r>
            <a:r>
              <a:rPr lang="en-US" sz="1400" dirty="0"/>
              <a:t>1. </a:t>
            </a:r>
            <a:r>
              <a:rPr lang="en-US" sz="1400" b="1" dirty="0"/>
              <a:t>Conventional stability chambers / incubators : </a:t>
            </a:r>
            <a:r>
              <a:rPr lang="en-US" sz="1400" dirty="0"/>
              <a:t>A formulation is placed in controlled temperature and humidity conditions and checked </a:t>
            </a:r>
            <a:br>
              <a:rPr lang="en-US" sz="1400" dirty="0"/>
            </a:br>
            <a:r>
              <a:rPr lang="en-US" sz="1400" dirty="0"/>
              <a:t>          at predetermined intervals.</a:t>
            </a:r>
          </a:p>
          <a:p>
            <a:pPr>
              <a:spcAft>
                <a:spcPts val="1000"/>
              </a:spcAft>
              <a:buClr>
                <a:schemeClr val="accent1"/>
              </a:buClr>
              <a:buSzPct val="100000"/>
            </a:pPr>
            <a:r>
              <a:rPr lang="en-US" sz="1400" dirty="0"/>
              <a:t>      2.</a:t>
            </a:r>
            <a:r>
              <a:rPr lang="en-US" sz="1400" b="1" dirty="0"/>
              <a:t> Accelerated stability testing : </a:t>
            </a:r>
            <a:r>
              <a:rPr lang="en-US" sz="1400" dirty="0"/>
              <a:t>Manufacturers expose product to elevated temperature or humidity to accelerate</a:t>
            </a:r>
            <a:br>
              <a:rPr lang="en-US" sz="1400" dirty="0"/>
            </a:br>
            <a:r>
              <a:rPr lang="en-US" sz="1400" dirty="0"/>
              <a:t>         potential  degradation.</a:t>
            </a:r>
            <a:endParaRPr lang="en-US" sz="1800" dirty="0"/>
          </a:p>
          <a:p>
            <a:pPr marL="285750" indent="-285750">
              <a:spcAft>
                <a:spcPts val="1000"/>
              </a:spcAft>
              <a:buClr>
                <a:schemeClr val="accent1"/>
              </a:buClr>
              <a:buSzPct val="100000"/>
              <a:buFont typeface="Arial" pitchFamily="34" charset="0"/>
              <a:buChar char="•"/>
            </a:pPr>
            <a:r>
              <a:rPr lang="en-US" sz="1800" dirty="0">
                <a:solidFill>
                  <a:schemeClr val="tx1"/>
                </a:solidFill>
              </a:rPr>
              <a:t>Limitations of each</a:t>
            </a:r>
          </a:p>
          <a:p>
            <a:pPr>
              <a:spcAft>
                <a:spcPts val="1000"/>
              </a:spcAft>
              <a:buClr>
                <a:schemeClr val="accent1"/>
              </a:buClr>
              <a:buSzPct val="100000"/>
            </a:pPr>
            <a:r>
              <a:rPr lang="en-US" dirty="0"/>
              <a:t>     </a:t>
            </a:r>
            <a:r>
              <a:rPr lang="en-US" sz="1400" dirty="0"/>
              <a:t>1. Takes time and measurements are taken at scheduled time.</a:t>
            </a:r>
          </a:p>
          <a:p>
            <a:pPr>
              <a:spcAft>
                <a:spcPts val="1000"/>
              </a:spcAft>
              <a:buClr>
                <a:schemeClr val="accent1"/>
              </a:buClr>
              <a:buSzPct val="100000"/>
            </a:pPr>
            <a:r>
              <a:rPr lang="en-US" sz="1400" dirty="0"/>
              <a:t>       2. A product sitting at an elevated temperature doesn’t necessarily age in the same way in normal storage conditions</a:t>
            </a:r>
            <a:r>
              <a:rPr lang="en-US" dirty="0"/>
              <a:t> </a:t>
            </a:r>
            <a:endParaRPr lang="en-US" sz="1800" dirty="0">
              <a:solidFill>
                <a:schemeClr val="tx1"/>
              </a:solidFill>
            </a:endParaRPr>
          </a:p>
          <a:p>
            <a:pPr marL="285750" indent="-285750">
              <a:spcAft>
                <a:spcPts val="1000"/>
              </a:spcAft>
              <a:buClr>
                <a:schemeClr val="accent1"/>
              </a:buClr>
              <a:buSzPct val="100000"/>
              <a:buFont typeface="Arial" pitchFamily="34" charset="0"/>
              <a:buChar char="•"/>
            </a:pPr>
            <a:r>
              <a:rPr lang="en-US" dirty="0"/>
              <a:t> </a:t>
            </a:r>
            <a:r>
              <a:rPr lang="en-US" sz="1800" dirty="0">
                <a:solidFill>
                  <a:schemeClr val="tx1"/>
                </a:solidFill>
              </a:rPr>
              <a:t>The gap they leave open (Key Challenges)</a:t>
            </a:r>
          </a:p>
          <a:p>
            <a:pPr>
              <a:spcAft>
                <a:spcPts val="1000"/>
              </a:spcAft>
              <a:buClr>
                <a:schemeClr val="accent1"/>
              </a:buClr>
              <a:buSzPct val="100000"/>
            </a:pPr>
            <a:r>
              <a:rPr lang="en-US" dirty="0"/>
              <a:t>      </a:t>
            </a:r>
            <a:r>
              <a:rPr lang="en-US" sz="1400" dirty="0"/>
              <a:t>1. The manufacturer have to wait  for a long time before obtaining meaningful stability evidence</a:t>
            </a:r>
          </a:p>
          <a:p>
            <a:pPr>
              <a:spcAft>
                <a:spcPts val="1000"/>
              </a:spcAft>
              <a:buClr>
                <a:schemeClr val="accent1"/>
              </a:buClr>
              <a:buSzPct val="100000"/>
            </a:pPr>
            <a:r>
              <a:rPr lang="en-US" sz="1800" dirty="0"/>
              <a:t>      </a:t>
            </a:r>
            <a:r>
              <a:rPr lang="en-US" sz="1400" dirty="0"/>
              <a:t>2. Changes occurring between</a:t>
            </a:r>
            <a:r>
              <a:rPr lang="en-US" dirty="0"/>
              <a:t> </a:t>
            </a:r>
            <a:r>
              <a:rPr lang="en-US" sz="1400" dirty="0"/>
              <a:t>observation points can go unnoticed until next scheduled assessment  </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900" dirty="0"/>
              <a:t> </a:t>
            </a:r>
            <a:r>
              <a:rPr lang="en-US" sz="1500" b="1" dirty="0"/>
              <a:t>CLOVER</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1005840" y="2148840"/>
            <a:ext cx="10287000" cy="2143242"/>
          </a:xfrm>
          <a:prstGeom prst="rect">
            <a:avLst/>
          </a:prstGeom>
          <a:noFill/>
          <a:ln/>
        </p:spPr>
        <p:txBody>
          <a:bodyPr wrap="square" lIns="0" tIns="0" rIns="0" bIns="0" rtlCol="0" anchor="t"/>
          <a:lstStyle/>
          <a:p>
            <a:pPr>
              <a:spcAft>
                <a:spcPts val="1000"/>
              </a:spcAft>
              <a:buClr>
                <a:schemeClr val="accent1"/>
              </a:buClr>
              <a:buSzPct val="100000"/>
            </a:pPr>
            <a:r>
              <a:rPr lang="en-US" sz="1800" dirty="0">
                <a:solidFill>
                  <a:schemeClr val="tx1"/>
                </a:solidFill>
              </a:rPr>
              <a:t>Hardware Requirements:</a:t>
            </a:r>
            <a:br>
              <a:rPr lang="en-US" sz="1800" dirty="0">
                <a:solidFill>
                  <a:schemeClr val="tx1"/>
                </a:solidFill>
              </a:rPr>
            </a:br>
            <a:r>
              <a:rPr lang="en-IN" sz="1400" dirty="0"/>
              <a:t>OUTER ELECTRICAL ENCLOSURE,SMALL INSULATED TEMPERATURE-TEST CHAMBER, TEC1-12706 PELTIER MODULE ,HEAT-SPREADER PLATES, HEATSINKS, AND FANS ,SAMPLE HOLDER,BOROSILICATE GLASS CENTRIFUGE TUBE,TEMPERATURE AND LIGHT MEASUREMENT,PT100 TEMPERATURE PROBE,MAX31865 PT100 INTERFACE BOARD,850 NM INFRARED LED MODULE, BPW34 PHOTODIODE LIGHT SENSOR,PHOTODIODE TRANSIMPEDANCE AMPLIFIER,ADS1115 ANALOG-TO-DIGITAL CONVERTER,CONTROL AND DATA DISPLAY,ESP32-S3 TOUCHSCREEN BOARD,MICROSD/TF CARD, RTC CLOCK OR RTC BACKUP BATTERY ,REGULATED 5 V ESP32 POWER SUPPLY,PELTIER POWER,REVERSIBLE TEC CONTROLLER ,DEDICATED 12 V TEC POWER SUPPLY ,THERMAL CUTOFF OR INDEPENDENT OVER-TEMPERATURE PROTECTION,OPTIONAL ROTATING ASSEMBLY,BLDC MOTOR,ESC FOR THE BLDC MOTOR,SEPARATE MOTOR POWER SUPPLY ,MOTOR CONTROL SIGNAL CONNECTION TO THE ESP32 ,ESC TELEMETRY CONNECTION OR SEPARATE RPM SENSOR MANUFACTURER-RATED ROTOR, SAMPLE HOLDER, AND CONTAINMENT</a:t>
            </a:r>
          </a:p>
          <a:p>
            <a:r>
              <a:rPr lang="en-US" sz="1800" dirty="0">
                <a:solidFill>
                  <a:schemeClr val="tx1"/>
                </a:solidFill>
              </a:rPr>
              <a:t>Software Requirements:</a:t>
            </a:r>
          </a:p>
          <a:p>
            <a:r>
              <a:rPr lang="en-US" sz="1400" dirty="0"/>
              <a:t>ARDUINO IDE,NEXTION EDITOR ,RTCLIB,CUSTOM CONTROL FIRMWARE</a:t>
            </a:r>
            <a:endParaRPr lang="en-US" sz="1400" dirty="0">
              <a:solidFill>
                <a:schemeClr val="tx1"/>
              </a:solidFill>
            </a:endParaRPr>
          </a:p>
          <a:p>
            <a:r>
              <a:rPr lang="en-US" dirty="0"/>
              <a:t>     </a:t>
            </a:r>
          </a:p>
          <a:p>
            <a:r>
              <a:rPr lang="en-US" sz="1800" dirty="0">
                <a:solidFill>
                  <a:schemeClr val="tx1"/>
                </a:solidFill>
              </a:rPr>
              <a:t> Other resources (Including Human Resources):</a:t>
            </a:r>
          </a:p>
          <a:p>
            <a:pPr lvl="0"/>
            <a:r>
              <a:rPr lang="en-US" dirty="0"/>
              <a:t> </a:t>
            </a:r>
            <a:r>
              <a:rPr lang="en-IN" sz="1400" dirty="0"/>
              <a:t>1 EMBEDDED SYSTEMS ENGINEER ,1 MECHANICAL ENGINEER ,1 SOFTWARE UI DEVELOPER ,COLLEGE MAKERSPACE / ELECTRONICS LAB FACILITY ACCESS,SOLDERING STATION &amp; DIGITAL MULTIMETER,3D PRINTING FILAMENT &amp; FABRICATION MATERIALS</a:t>
            </a:r>
          </a:p>
          <a:p>
            <a:endParaRPr lang="en-US" sz="1400" dirty="0">
              <a:solidFill>
                <a:schemeClr val="tx1"/>
              </a:solidFill>
            </a:endParaRPr>
          </a:p>
          <a:p>
            <a:pPr>
              <a:spcAft>
                <a:spcPts val="1000"/>
              </a:spcAft>
              <a:buClr>
                <a:schemeClr val="accent1"/>
              </a:buClr>
              <a:buSzPct val="100000"/>
            </a:pPr>
            <a:r>
              <a:rPr lang="en-US" sz="900" dirty="0"/>
              <a:t>      </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CLOVER</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85750" indent="-285750">
              <a:spcAft>
                <a:spcPts val="1000"/>
              </a:spcAft>
              <a:buClr>
                <a:schemeClr val="accent1"/>
              </a:buClr>
              <a:buSzPct val="100000"/>
              <a:buFont typeface="Arial" pitchFamily="34" charset="0"/>
              <a:buChar char="•"/>
            </a:pPr>
            <a:r>
              <a:rPr lang="en-US" sz="1800" dirty="0">
                <a:solidFill>
                  <a:schemeClr val="tx1"/>
                </a:solidFill>
              </a:rPr>
              <a:t>What your team intends to do</a:t>
            </a:r>
          </a:p>
          <a:p>
            <a:pPr>
              <a:spcAft>
                <a:spcPts val="1000"/>
              </a:spcAft>
              <a:buClr>
                <a:schemeClr val="accent1"/>
              </a:buClr>
              <a:buSzPct val="100000"/>
            </a:pPr>
            <a:r>
              <a:rPr lang="en-US" dirty="0"/>
              <a:t>      </a:t>
            </a:r>
            <a:r>
              <a:rPr lang="en-US" sz="1400" dirty="0"/>
              <a:t>We intend to assess formulation stability and identify quality issues earlier in a short period of time with less manual work</a:t>
            </a:r>
            <a:endParaRPr lang="en-US" sz="1800" dirty="0"/>
          </a:p>
          <a:p>
            <a:pPr marL="285750" indent="-285750">
              <a:spcAft>
                <a:spcPts val="1000"/>
              </a:spcAft>
              <a:buClr>
                <a:schemeClr val="accent1"/>
              </a:buClr>
              <a:buSzPct val="100000"/>
              <a:buFont typeface="Arial" pitchFamily="34" charset="0"/>
              <a:buChar char="•"/>
            </a:pPr>
            <a:r>
              <a:rPr lang="en-US" sz="1800" dirty="0">
                <a:solidFill>
                  <a:schemeClr val="tx1"/>
                </a:solidFill>
              </a:rPr>
              <a:t>What you want to improve</a:t>
            </a:r>
          </a:p>
          <a:p>
            <a:pPr>
              <a:spcAft>
                <a:spcPts val="1000"/>
              </a:spcAft>
              <a:buClr>
                <a:schemeClr val="accent1"/>
              </a:buClr>
              <a:buSzPct val="100000"/>
            </a:pPr>
            <a:r>
              <a:rPr lang="en-US" sz="1400" dirty="0"/>
              <a:t>         1. Reduce test timing</a:t>
            </a:r>
          </a:p>
          <a:p>
            <a:pPr>
              <a:spcAft>
                <a:spcPts val="1000"/>
              </a:spcAft>
              <a:buClr>
                <a:schemeClr val="accent1"/>
              </a:buClr>
              <a:buSzPct val="100000"/>
            </a:pPr>
            <a:r>
              <a:rPr lang="en-US" sz="1400" dirty="0"/>
              <a:t>         2. Speed up formulation development and decision-making</a:t>
            </a:r>
          </a:p>
          <a:p>
            <a:pPr>
              <a:spcAft>
                <a:spcPts val="1000"/>
              </a:spcAft>
              <a:buClr>
                <a:schemeClr val="accent1"/>
              </a:buClr>
              <a:buSzPct val="100000"/>
            </a:pPr>
            <a:r>
              <a:rPr lang="en-US" sz="1400" dirty="0"/>
              <a:t>         3. Get more direct analytical information about the formulation </a:t>
            </a:r>
          </a:p>
          <a:p>
            <a:pPr marL="285750" indent="-285750">
              <a:spcAft>
                <a:spcPts val="1000"/>
              </a:spcAft>
              <a:buClr>
                <a:schemeClr val="accent1"/>
              </a:buClr>
              <a:buSzPct val="100000"/>
              <a:buFont typeface="Arial" pitchFamily="34" charset="0"/>
              <a:buChar char="•"/>
            </a:pPr>
            <a:r>
              <a:rPr lang="en-US" sz="1800" dirty="0">
                <a:solidFill>
                  <a:schemeClr val="tx1"/>
                </a:solidFill>
              </a:rPr>
              <a:t>What successful improvement should you achieve</a:t>
            </a:r>
          </a:p>
          <a:p>
            <a:pPr>
              <a:spcAft>
                <a:spcPts val="1000"/>
              </a:spcAft>
              <a:buClr>
                <a:schemeClr val="accent1"/>
              </a:buClr>
              <a:buSzPct val="100000"/>
            </a:pPr>
            <a:r>
              <a:rPr lang="en-US" sz="1400" dirty="0"/>
              <a:t>         1. Reduce the time to obtain the output</a:t>
            </a:r>
          </a:p>
          <a:p>
            <a:pPr>
              <a:spcAft>
                <a:spcPts val="1000"/>
              </a:spcAft>
              <a:buClr>
                <a:schemeClr val="accent1"/>
              </a:buClr>
              <a:buSzPct val="100000"/>
            </a:pPr>
            <a:r>
              <a:rPr lang="en-US" sz="1400" dirty="0"/>
              <a:t>         2. Due to faster decision-making process , less manual work and minimal wastage of ingredients , we could potentially reduce costs.</a:t>
            </a:r>
          </a:p>
          <a:p>
            <a:pPr>
              <a:spcAft>
                <a:spcPts val="1000"/>
              </a:spcAft>
              <a:buClr>
                <a:schemeClr val="accent1"/>
              </a:buClr>
              <a:buSzPct val="100000"/>
            </a:pPr>
            <a:r>
              <a:rPr lang="en-US" sz="1400" dirty="0"/>
              <a:t>        3. Reduce the time to obtain the output</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7"/>
          <p:cNvSpPr>
            <a:spLocks noGrp="1"/>
          </p:cNvSpPr>
          <p:nvPr>
            <p:ph type="title" idx="108"/>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TEAM CONTRIBUTION</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CLOVER</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Who will handle which part of the execution</a:t>
            </a:r>
            <a:endParaRPr lang="en-US" sz="1800" dirty="0"/>
          </a:p>
        </p:txBody>
      </p:sp>
      <p:graphicFrame>
        <p:nvGraphicFramePr>
          <p:cNvPr id="10" name="Team Contribution Table"/>
          <p:cNvGraphicFramePr>
            <a:graphicFrameLocks noGrp="1"/>
          </p:cNvGraphicFramePr>
          <p:nvPr>
            <p:extLst>
              <p:ext uri="{D42A27DB-BD31-4B8C-83A1-F6EECF244321}">
                <p14:modId xmlns:p14="http://schemas.microsoft.com/office/powerpoint/2010/main" val="2630905631"/>
              </p:ext>
            </p:extLst>
          </p:nvPr>
        </p:nvGraphicFramePr>
        <p:xfrm>
          <a:off x="548640" y="2194560"/>
          <a:ext cx="11094415" cy="3474720"/>
        </p:xfrm>
        <a:graphic>
          <a:graphicData uri="http://schemas.openxmlformats.org/drawingml/2006/table">
            <a:tbl>
              <a:tblPr/>
              <a:tblGrid>
                <a:gridCol w="30175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5516575">
                  <a:extLst>
                    <a:ext uri="{9D8B030D-6E8A-4147-A177-3AD203B41FA5}">
                      <a16:colId xmlns:a16="http://schemas.microsoft.com/office/drawing/2014/main" val="20002"/>
                    </a:ext>
                  </a:extLst>
                </a:gridCol>
              </a:tblGrid>
              <a:tr h="548640">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Team Member</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Responsibility in Execution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1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2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3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4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9</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TotalTime>
  <Words>1342</Words>
  <Application>Microsoft Office PowerPoint</Application>
  <PresentationFormat>Widescreen</PresentationFormat>
  <Paragraphs>132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lpstr>TEAM CONTRIBUTION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Asmitha M</cp:lastModifiedBy>
  <cp:revision>8</cp:revision>
  <dcterms:created xsi:type="dcterms:W3CDTF">2026-10-07T15:27:40Z</dcterms:created>
  <dcterms:modified xsi:type="dcterms:W3CDTF">2026-10-09T15:37:49Z</dcterms:modified>
</cp:coreProperties>
</file>